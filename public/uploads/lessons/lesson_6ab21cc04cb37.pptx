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5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DB4747-7643-4E97-8DF3-867274B12316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50BE5-0AC4-4105-92D1-8D8A0D1BC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44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829CE4-0DB8-4D9C-8882-3D482B16DDE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85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829CE4-0DB8-4D9C-8882-3D482B16DDE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990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829CE4-0DB8-4D9C-8882-3D482B16DDE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17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829CE4-0DB8-4D9C-8882-3D482B16DDE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98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829CE4-0DB8-4D9C-8882-3D482B16DDE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226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829CE4-0DB8-4D9C-8882-3D482B16DDE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969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829CE4-0DB8-4D9C-8882-3D482B16DDE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693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829CE4-0DB8-4D9C-8882-3D482B16DDE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985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EF655-D2A9-44DD-ADF1-9A4E0ADE7CC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4EC44-388D-43B8-BD48-E2758CA5B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910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EF655-D2A9-44DD-ADF1-9A4E0ADE7CC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4EC44-388D-43B8-BD48-E2758CA5B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7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EF655-D2A9-44DD-ADF1-9A4E0ADE7CC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4EC44-388D-43B8-BD48-E2758CA5B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683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EF655-D2A9-44DD-ADF1-9A4E0ADE7CC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4EC44-388D-43B8-BD48-E2758CA5B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70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EF655-D2A9-44DD-ADF1-9A4E0ADE7CC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4EC44-388D-43B8-BD48-E2758CA5B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006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EF655-D2A9-44DD-ADF1-9A4E0ADE7CC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4EC44-388D-43B8-BD48-E2758CA5B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005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EF655-D2A9-44DD-ADF1-9A4E0ADE7CC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4EC44-388D-43B8-BD48-E2758CA5B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2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EF655-D2A9-44DD-ADF1-9A4E0ADE7CC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4EC44-388D-43B8-BD48-E2758CA5B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96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EF655-D2A9-44DD-ADF1-9A4E0ADE7CC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4EC44-388D-43B8-BD48-E2758CA5B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78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EF655-D2A9-44DD-ADF1-9A4E0ADE7CC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4EC44-388D-43B8-BD48-E2758CA5B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954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EF655-D2A9-44DD-ADF1-9A4E0ADE7CC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4EC44-388D-43B8-BD48-E2758CA5B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54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EF655-D2A9-44DD-ADF1-9A4E0ADE7CC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4EC44-388D-43B8-BD48-E2758CA5B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514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sv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0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4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0.sv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6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4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16494494" flipH="1" flipV="1">
            <a:off x="111064" y="-69805"/>
            <a:ext cx="2026417" cy="2082800"/>
          </a:xfrm>
          <a:custGeom>
            <a:avLst/>
            <a:gdLst/>
            <a:ahLst/>
            <a:cxnLst/>
            <a:rect l="l" t="t" r="r" b="b"/>
            <a:pathLst>
              <a:path w="5549360" h="6228873">
                <a:moveTo>
                  <a:pt x="5549360" y="6228873"/>
                </a:moveTo>
                <a:lnTo>
                  <a:pt x="0" y="6228873"/>
                </a:lnTo>
                <a:lnTo>
                  <a:pt x="0" y="0"/>
                </a:lnTo>
                <a:lnTo>
                  <a:pt x="5549360" y="0"/>
                </a:lnTo>
                <a:lnTo>
                  <a:pt x="5549360" y="622887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" name="Freeform 2"/>
          <p:cNvSpPr/>
          <p:nvPr/>
        </p:nvSpPr>
        <p:spPr>
          <a:xfrm>
            <a:off x="9245600" y="2921001"/>
            <a:ext cx="3004544" cy="3865363"/>
          </a:xfrm>
          <a:custGeom>
            <a:avLst/>
            <a:gdLst/>
            <a:ahLst/>
            <a:cxnLst/>
            <a:rect l="l" t="t" r="r" b="b"/>
            <a:pathLst>
              <a:path w="6125118" h="6102845">
                <a:moveTo>
                  <a:pt x="0" y="0"/>
                </a:moveTo>
                <a:lnTo>
                  <a:pt x="6125118" y="0"/>
                </a:lnTo>
                <a:lnTo>
                  <a:pt x="6125118" y="6102845"/>
                </a:lnTo>
                <a:lnTo>
                  <a:pt x="0" y="61028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994401" y="708398"/>
            <a:ext cx="6055475" cy="4350012"/>
          </a:xfrm>
          <a:custGeom>
            <a:avLst/>
            <a:gdLst/>
            <a:ahLst/>
            <a:cxnLst/>
            <a:rect l="l" t="t" r="r" b="b"/>
            <a:pathLst>
              <a:path w="9083213" h="6525018">
                <a:moveTo>
                  <a:pt x="0" y="0"/>
                </a:moveTo>
                <a:lnTo>
                  <a:pt x="9083213" y="0"/>
                </a:lnTo>
                <a:lnTo>
                  <a:pt x="9083213" y="6525018"/>
                </a:lnTo>
                <a:lnTo>
                  <a:pt x="0" y="65250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03200" y="3022600"/>
            <a:ext cx="6575226" cy="3077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800" b="1" spc="48" dirty="0">
                <a:solidFill>
                  <a:schemeClr val="accent6">
                    <a:lumMod val="50000"/>
                  </a:scheme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ORGANIZATIONAL STRUCTURE FOR MANAGING INFORMATION ASSURANCE</a:t>
            </a:r>
          </a:p>
        </p:txBody>
      </p:sp>
    </p:spTree>
    <p:extLst>
      <p:ext uri="{BB962C8B-B14F-4D97-AF65-F5344CB8AC3E}">
        <p14:creationId xmlns:p14="http://schemas.microsoft.com/office/powerpoint/2010/main" val="1021977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36000" y="3193203"/>
            <a:ext cx="3688132" cy="3674721"/>
          </a:xfrm>
          <a:custGeom>
            <a:avLst/>
            <a:gdLst/>
            <a:ahLst/>
            <a:cxnLst/>
            <a:rect l="l" t="t" r="r" b="b"/>
            <a:pathLst>
              <a:path w="5532198" h="5512081">
                <a:moveTo>
                  <a:pt x="0" y="0"/>
                </a:moveTo>
                <a:lnTo>
                  <a:pt x="5532199" y="0"/>
                </a:lnTo>
                <a:lnTo>
                  <a:pt x="5532199" y="5512081"/>
                </a:lnTo>
                <a:lnTo>
                  <a:pt x="0" y="5512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50800" y="-57737"/>
            <a:ext cx="2375243" cy="2448104"/>
          </a:xfrm>
          <a:custGeom>
            <a:avLst/>
            <a:gdLst/>
            <a:ahLst/>
            <a:cxnLst/>
            <a:rect l="l" t="t" r="r" b="b"/>
            <a:pathLst>
              <a:path w="4561415" h="5119956">
                <a:moveTo>
                  <a:pt x="4561416" y="5119955"/>
                </a:moveTo>
                <a:lnTo>
                  <a:pt x="0" y="5119955"/>
                </a:lnTo>
                <a:lnTo>
                  <a:pt x="0" y="0"/>
                </a:lnTo>
                <a:lnTo>
                  <a:pt x="4561416" y="0"/>
                </a:lnTo>
                <a:lnTo>
                  <a:pt x="4561416" y="511995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017057" y="450003"/>
            <a:ext cx="5237887" cy="5486400"/>
          </a:xfrm>
          <a:custGeom>
            <a:avLst/>
            <a:gdLst/>
            <a:ahLst/>
            <a:cxnLst/>
            <a:rect l="l" t="t" r="r" b="b"/>
            <a:pathLst>
              <a:path w="7856831" h="8229600">
                <a:moveTo>
                  <a:pt x="0" y="0"/>
                </a:moveTo>
                <a:lnTo>
                  <a:pt x="7856831" y="0"/>
                </a:lnTo>
                <a:lnTo>
                  <a:pt x="785683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16000" y="2581275"/>
            <a:ext cx="5154257" cy="3403263"/>
            <a:chOff x="0" y="133349"/>
            <a:chExt cx="10308514" cy="6806526"/>
          </a:xfrm>
        </p:grpSpPr>
        <p:sp>
          <p:nvSpPr>
            <p:cNvPr id="6" name="TextBox 6"/>
            <p:cNvSpPr txBox="1"/>
            <p:nvPr/>
          </p:nvSpPr>
          <p:spPr>
            <a:xfrm>
              <a:off x="0" y="133349"/>
              <a:ext cx="10308514" cy="11541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466"/>
                </a:lnSpc>
              </a:pPr>
              <a:r>
                <a:rPr lang="en-US" sz="4466" b="1" spc="44" dirty="0">
                  <a:solidFill>
                    <a:srgbClr val="64392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OVERVIEW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12857"/>
              <a:ext cx="10308514" cy="50270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773"/>
                </a:lnSpc>
              </a:pPr>
              <a:r>
                <a:rPr lang="en-US" sz="2133" spc="21">
                  <a:solidFill>
                    <a:srgbClr val="64392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This presentation is focused on organizational structure for managing Information Assurance (IA) refers to how responsibilities, authority, and accountability for information security are distributed within an organization.</a:t>
              </a:r>
            </a:p>
            <a:p>
              <a:pPr>
                <a:lnSpc>
                  <a:spcPts val="2773"/>
                </a:lnSpc>
              </a:pPr>
              <a:endParaRPr lang="en-US" sz="2133" spc="21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8795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85200" y="3183280"/>
            <a:ext cx="3688132" cy="3674721"/>
          </a:xfrm>
          <a:custGeom>
            <a:avLst/>
            <a:gdLst/>
            <a:ahLst/>
            <a:cxnLst/>
            <a:rect l="l" t="t" r="r" b="b"/>
            <a:pathLst>
              <a:path w="5532198" h="5512081">
                <a:moveTo>
                  <a:pt x="0" y="0"/>
                </a:moveTo>
                <a:lnTo>
                  <a:pt x="5532199" y="0"/>
                </a:lnTo>
                <a:lnTo>
                  <a:pt x="5532199" y="5512081"/>
                </a:lnTo>
                <a:lnTo>
                  <a:pt x="0" y="5512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" y="-687"/>
            <a:ext cx="3040943" cy="3413304"/>
          </a:xfrm>
          <a:custGeom>
            <a:avLst/>
            <a:gdLst/>
            <a:ahLst/>
            <a:cxnLst/>
            <a:rect l="l" t="t" r="r" b="b"/>
            <a:pathLst>
              <a:path w="4561415" h="5119956">
                <a:moveTo>
                  <a:pt x="4561415" y="5119955"/>
                </a:moveTo>
                <a:lnTo>
                  <a:pt x="0" y="5119955"/>
                </a:lnTo>
                <a:lnTo>
                  <a:pt x="0" y="0"/>
                </a:lnTo>
                <a:lnTo>
                  <a:pt x="4561415" y="0"/>
                </a:lnTo>
                <a:lnTo>
                  <a:pt x="4561415" y="511995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12800" y="584200"/>
            <a:ext cx="10230304" cy="5383697"/>
          </a:xfrm>
          <a:custGeom>
            <a:avLst/>
            <a:gdLst/>
            <a:ahLst/>
            <a:cxnLst/>
            <a:rect l="l" t="t" r="r" b="b"/>
            <a:pathLst>
              <a:path w="15345456" h="8075546">
                <a:moveTo>
                  <a:pt x="0" y="0"/>
                </a:moveTo>
                <a:lnTo>
                  <a:pt x="15345456" y="0"/>
                </a:lnTo>
                <a:lnTo>
                  <a:pt x="15345456" y="8075546"/>
                </a:lnTo>
                <a:lnTo>
                  <a:pt x="0" y="8075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695667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32562" y="3327400"/>
            <a:ext cx="3251200" cy="3446121"/>
          </a:xfrm>
          <a:custGeom>
            <a:avLst/>
            <a:gdLst/>
            <a:ahLst/>
            <a:cxnLst/>
            <a:rect l="l" t="t" r="r" b="b"/>
            <a:pathLst>
              <a:path w="5532198" h="5512081">
                <a:moveTo>
                  <a:pt x="0" y="0"/>
                </a:moveTo>
                <a:lnTo>
                  <a:pt x="5532199" y="0"/>
                </a:lnTo>
                <a:lnTo>
                  <a:pt x="5532199" y="5512081"/>
                </a:lnTo>
                <a:lnTo>
                  <a:pt x="0" y="55120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0984" y="0"/>
            <a:ext cx="2133600" cy="2206240"/>
          </a:xfrm>
          <a:custGeom>
            <a:avLst/>
            <a:gdLst/>
            <a:ahLst/>
            <a:cxnLst/>
            <a:rect l="l" t="t" r="r" b="b"/>
            <a:pathLst>
              <a:path w="4561415" h="5119956">
                <a:moveTo>
                  <a:pt x="4561415" y="5119955"/>
                </a:moveTo>
                <a:lnTo>
                  <a:pt x="0" y="5119955"/>
                </a:lnTo>
                <a:lnTo>
                  <a:pt x="0" y="0"/>
                </a:lnTo>
                <a:lnTo>
                  <a:pt x="4561415" y="0"/>
                </a:lnTo>
                <a:lnTo>
                  <a:pt x="4561415" y="511995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31253" y="2819400"/>
            <a:ext cx="11277619" cy="380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67"/>
              </a:lnSpc>
              <a:spcBef>
                <a:spcPct val="0"/>
              </a:spcBef>
            </a:pPr>
            <a:r>
              <a:rPr lang="en-US" sz="2667" spc="27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Role: Provides leadership, funding, and support for Information Assurance.</a:t>
            </a:r>
          </a:p>
          <a:p>
            <a:pPr>
              <a:lnSpc>
                <a:spcPts val="2667"/>
              </a:lnSpc>
              <a:spcBef>
                <a:spcPct val="0"/>
              </a:spcBef>
            </a:pPr>
            <a:endParaRPr lang="en-US" sz="2667" spc="27" dirty="0">
              <a:solidFill>
                <a:srgbClr val="64392D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>
              <a:lnSpc>
                <a:spcPts val="2667"/>
              </a:lnSpc>
              <a:spcBef>
                <a:spcPct val="0"/>
              </a:spcBef>
            </a:pPr>
            <a:r>
              <a:rPr lang="en-US" sz="2667" spc="27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Responsibilities:</a:t>
            </a:r>
          </a:p>
          <a:p>
            <a:pPr>
              <a:lnSpc>
                <a:spcPts val="2667"/>
              </a:lnSpc>
              <a:spcBef>
                <a:spcPct val="0"/>
              </a:spcBef>
            </a:pPr>
            <a:endParaRPr lang="en-US" sz="2667" spc="27" dirty="0">
              <a:solidFill>
                <a:srgbClr val="64392D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75770" lvl="1" indent="-287885">
              <a:lnSpc>
                <a:spcPts val="2667"/>
              </a:lnSpc>
              <a:spcBef>
                <a:spcPct val="0"/>
              </a:spcBef>
              <a:buFont typeface="Arial"/>
              <a:buChar char="•"/>
            </a:pPr>
            <a:r>
              <a:rPr lang="en-US" sz="2667" spc="27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Approves security policies </a:t>
            </a:r>
          </a:p>
          <a:p>
            <a:pPr marL="575770" lvl="1" indent="-287885">
              <a:lnSpc>
                <a:spcPts val="2667"/>
              </a:lnSpc>
              <a:spcBef>
                <a:spcPct val="0"/>
              </a:spcBef>
              <a:buFont typeface="Arial"/>
              <a:buChar char="•"/>
            </a:pPr>
            <a:r>
              <a:rPr lang="en-US" sz="2667" spc="27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Allocates budget and resources </a:t>
            </a:r>
          </a:p>
          <a:p>
            <a:pPr marL="575770" lvl="1" indent="-287885">
              <a:lnSpc>
                <a:spcPts val="2667"/>
              </a:lnSpc>
              <a:spcBef>
                <a:spcPct val="0"/>
              </a:spcBef>
              <a:buFont typeface="Arial"/>
              <a:buChar char="•"/>
            </a:pPr>
            <a:r>
              <a:rPr lang="en-US" sz="2667" spc="27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Establishes organizational security priorities </a:t>
            </a:r>
          </a:p>
          <a:p>
            <a:pPr marL="575770" lvl="1" indent="-287885">
              <a:lnSpc>
                <a:spcPts val="2667"/>
              </a:lnSpc>
              <a:spcBef>
                <a:spcPct val="0"/>
              </a:spcBef>
              <a:buFont typeface="Arial"/>
              <a:buChar char="•"/>
            </a:pPr>
            <a:r>
              <a:rPr lang="en-US" sz="2667" spc="27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Accepts or rejects significant risks </a:t>
            </a:r>
          </a:p>
          <a:p>
            <a:pPr marL="575770" lvl="1" indent="-287885">
              <a:lnSpc>
                <a:spcPts val="2667"/>
              </a:lnSpc>
              <a:spcBef>
                <a:spcPct val="0"/>
              </a:spcBef>
              <a:buFont typeface="Arial"/>
              <a:buChar char="•"/>
            </a:pPr>
            <a:r>
              <a:rPr lang="en-US" sz="2667" spc="27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Ensures security supports organizational objectives</a:t>
            </a:r>
          </a:p>
          <a:p>
            <a:pPr>
              <a:lnSpc>
                <a:spcPts val="2667"/>
              </a:lnSpc>
              <a:spcBef>
                <a:spcPct val="0"/>
              </a:spcBef>
            </a:pPr>
            <a:endParaRPr lang="en-US" sz="2667" spc="27" dirty="0">
              <a:solidFill>
                <a:srgbClr val="64392D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-937138" y="2025040"/>
            <a:ext cx="6807200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66"/>
              </a:lnSpc>
              <a:spcBef>
                <a:spcPct val="0"/>
              </a:spcBef>
            </a:pPr>
            <a:r>
              <a:rPr lang="en-US" sz="4266" b="1" spc="42" dirty="0">
                <a:solidFill>
                  <a:srgbClr val="6439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 Management</a:t>
            </a:r>
          </a:p>
        </p:txBody>
      </p:sp>
    </p:spTree>
    <p:extLst>
      <p:ext uri="{BB962C8B-B14F-4D97-AF65-F5344CB8AC3E}">
        <p14:creationId xmlns:p14="http://schemas.microsoft.com/office/powerpoint/2010/main" val="1008290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87227" y="3183280"/>
            <a:ext cx="3688132" cy="3674721"/>
          </a:xfrm>
          <a:custGeom>
            <a:avLst/>
            <a:gdLst/>
            <a:ahLst/>
            <a:cxnLst/>
            <a:rect l="l" t="t" r="r" b="b"/>
            <a:pathLst>
              <a:path w="5532198" h="5512081">
                <a:moveTo>
                  <a:pt x="0" y="0"/>
                </a:moveTo>
                <a:lnTo>
                  <a:pt x="5532199" y="0"/>
                </a:lnTo>
                <a:lnTo>
                  <a:pt x="5532199" y="5512081"/>
                </a:lnTo>
                <a:lnTo>
                  <a:pt x="0" y="55120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3341" y="0"/>
            <a:ext cx="2082800" cy="2117026"/>
          </a:xfrm>
          <a:custGeom>
            <a:avLst/>
            <a:gdLst/>
            <a:ahLst/>
            <a:cxnLst/>
            <a:rect l="l" t="t" r="r" b="b"/>
            <a:pathLst>
              <a:path w="4561415" h="5119956">
                <a:moveTo>
                  <a:pt x="4561415" y="5119955"/>
                </a:moveTo>
                <a:lnTo>
                  <a:pt x="0" y="5119955"/>
                </a:lnTo>
                <a:lnTo>
                  <a:pt x="0" y="0"/>
                </a:lnTo>
                <a:lnTo>
                  <a:pt x="4561415" y="0"/>
                </a:lnTo>
                <a:lnTo>
                  <a:pt x="4561415" y="511995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998078" y="685800"/>
            <a:ext cx="5508122" cy="4867177"/>
          </a:xfrm>
          <a:custGeom>
            <a:avLst/>
            <a:gdLst/>
            <a:ahLst/>
            <a:cxnLst/>
            <a:rect l="l" t="t" r="r" b="b"/>
            <a:pathLst>
              <a:path w="8262183" h="7300765">
                <a:moveTo>
                  <a:pt x="0" y="0"/>
                </a:moveTo>
                <a:lnTo>
                  <a:pt x="8262183" y="0"/>
                </a:lnTo>
                <a:lnTo>
                  <a:pt x="8262183" y="7300765"/>
                </a:lnTo>
                <a:lnTo>
                  <a:pt x="0" y="73007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4662" y="1619357"/>
            <a:ext cx="5154257" cy="105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34"/>
              </a:lnSpc>
            </a:pPr>
            <a:r>
              <a:rPr lang="en-US" sz="4134" b="1" spc="41" dirty="0">
                <a:solidFill>
                  <a:srgbClr val="6439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Chief Information Officer (CIO)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6622" y="2689543"/>
            <a:ext cx="6166349" cy="3590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99"/>
              </a:lnSpc>
            </a:pPr>
            <a:r>
              <a:rPr lang="en-US" sz="2153" spc="21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The CIO oversees the organization's information technology and ensures that IT supports organizational goals.</a:t>
            </a:r>
          </a:p>
          <a:p>
            <a:pPr>
              <a:lnSpc>
                <a:spcPts val="2799"/>
              </a:lnSpc>
            </a:pPr>
            <a:endParaRPr lang="en-US" sz="2153" spc="21" dirty="0">
              <a:solidFill>
                <a:srgbClr val="64392D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>
              <a:lnSpc>
                <a:spcPts val="2799"/>
              </a:lnSpc>
            </a:pPr>
            <a:r>
              <a:rPr lang="en-US" sz="2153" spc="21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Responsibilities include:</a:t>
            </a:r>
          </a:p>
          <a:p>
            <a:pPr marL="464953" lvl="1" indent="-232476">
              <a:lnSpc>
                <a:spcPts val="2799"/>
              </a:lnSpc>
              <a:buFont typeface="Arial"/>
              <a:buChar char="•"/>
            </a:pPr>
            <a:r>
              <a:rPr lang="en-US" sz="2153" spc="21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IT strategy</a:t>
            </a:r>
          </a:p>
          <a:p>
            <a:pPr marL="464953" lvl="1" indent="-232476">
              <a:lnSpc>
                <a:spcPts val="2799"/>
              </a:lnSpc>
              <a:buFont typeface="Arial"/>
              <a:buChar char="•"/>
            </a:pPr>
            <a:r>
              <a:rPr lang="en-US" sz="2153" spc="21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Technology resources</a:t>
            </a:r>
          </a:p>
          <a:p>
            <a:pPr marL="464953" lvl="1" indent="-232476">
              <a:lnSpc>
                <a:spcPts val="2799"/>
              </a:lnSpc>
              <a:buFont typeface="Arial"/>
              <a:buChar char="•"/>
            </a:pPr>
            <a:r>
              <a:rPr lang="en-US" sz="2153" spc="21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IT operations</a:t>
            </a:r>
          </a:p>
          <a:p>
            <a:pPr marL="464953" lvl="1" indent="-232476">
              <a:lnSpc>
                <a:spcPts val="2799"/>
              </a:lnSpc>
              <a:buFont typeface="Arial"/>
              <a:buChar char="•"/>
            </a:pPr>
            <a:r>
              <a:rPr lang="en-US" sz="2153" spc="21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Coordination between IT and management</a:t>
            </a:r>
          </a:p>
          <a:p>
            <a:pPr>
              <a:lnSpc>
                <a:spcPts val="2799"/>
              </a:lnSpc>
            </a:pPr>
            <a:endParaRPr lang="en-US" sz="2153" spc="21" dirty="0">
              <a:solidFill>
                <a:srgbClr val="64392D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2711921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85200" y="3124200"/>
            <a:ext cx="3688132" cy="3674721"/>
          </a:xfrm>
          <a:custGeom>
            <a:avLst/>
            <a:gdLst/>
            <a:ahLst/>
            <a:cxnLst/>
            <a:rect l="l" t="t" r="r" b="b"/>
            <a:pathLst>
              <a:path w="5532198" h="5512081">
                <a:moveTo>
                  <a:pt x="0" y="0"/>
                </a:moveTo>
                <a:lnTo>
                  <a:pt x="5532199" y="0"/>
                </a:lnTo>
                <a:lnTo>
                  <a:pt x="5532199" y="5512081"/>
                </a:lnTo>
                <a:lnTo>
                  <a:pt x="0" y="55120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0302928" flipH="1" flipV="1">
            <a:off x="206330" y="-192927"/>
            <a:ext cx="2017897" cy="2332681"/>
          </a:xfrm>
          <a:custGeom>
            <a:avLst/>
            <a:gdLst/>
            <a:ahLst/>
            <a:cxnLst/>
            <a:rect l="l" t="t" r="r" b="b"/>
            <a:pathLst>
              <a:path w="4561415" h="5119956">
                <a:moveTo>
                  <a:pt x="4561415" y="5119955"/>
                </a:moveTo>
                <a:lnTo>
                  <a:pt x="0" y="5119955"/>
                </a:lnTo>
                <a:lnTo>
                  <a:pt x="0" y="0"/>
                </a:lnTo>
                <a:lnTo>
                  <a:pt x="4561415" y="0"/>
                </a:lnTo>
                <a:lnTo>
                  <a:pt x="4561415" y="511995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679279" y="1978597"/>
            <a:ext cx="3826921" cy="3659929"/>
          </a:xfrm>
          <a:custGeom>
            <a:avLst/>
            <a:gdLst/>
            <a:ahLst/>
            <a:cxnLst/>
            <a:rect l="l" t="t" r="r" b="b"/>
            <a:pathLst>
              <a:path w="5740382" h="5489893">
                <a:moveTo>
                  <a:pt x="0" y="0"/>
                </a:moveTo>
                <a:lnTo>
                  <a:pt x="5740382" y="0"/>
                </a:lnTo>
                <a:lnTo>
                  <a:pt x="5740382" y="5489893"/>
                </a:lnTo>
                <a:lnTo>
                  <a:pt x="0" y="54898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53863" y="1803400"/>
            <a:ext cx="5950446" cy="105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34"/>
              </a:lnSpc>
              <a:spcBef>
                <a:spcPct val="0"/>
              </a:spcBef>
            </a:pPr>
            <a:r>
              <a:rPr lang="en-US" sz="4134" b="1" spc="41" dirty="0">
                <a:solidFill>
                  <a:srgbClr val="6439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Chief Information </a:t>
            </a:r>
          </a:p>
          <a:p>
            <a:pPr>
              <a:lnSpc>
                <a:spcPts val="4134"/>
              </a:lnSpc>
              <a:spcBef>
                <a:spcPct val="0"/>
              </a:spcBef>
            </a:pPr>
            <a:r>
              <a:rPr lang="en-US" sz="4134" b="1" spc="41" dirty="0">
                <a:solidFill>
                  <a:srgbClr val="6439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Security Officer (CISO)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4800" y="2971800"/>
            <a:ext cx="7189688" cy="3385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sz="2400" spc="24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The CISO is primarily responsible for the 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sz="2400" spc="24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organization's information security program.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sz="2400" spc="24" dirty="0">
              <a:solidFill>
                <a:srgbClr val="64392D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sz="2400" spc="24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Responsibilities:</a:t>
            </a:r>
          </a:p>
          <a:p>
            <a:pPr>
              <a:lnSpc>
                <a:spcPts val="2400"/>
              </a:lnSpc>
              <a:spcBef>
                <a:spcPct val="0"/>
              </a:spcBef>
            </a:pPr>
            <a:endParaRPr lang="en-US" sz="2400" spc="24" dirty="0">
              <a:solidFill>
                <a:srgbClr val="64392D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18196" lvl="1" indent="-259098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24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Develop security strategies</a:t>
            </a:r>
          </a:p>
          <a:p>
            <a:pPr marL="518196" lvl="1" indent="-259098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24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Establish security policies</a:t>
            </a:r>
          </a:p>
          <a:p>
            <a:pPr marL="518196" lvl="1" indent="-259098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24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Manage </a:t>
            </a:r>
            <a:r>
              <a:rPr lang="en-US" sz="2400" spc="24" dirty="0" err="1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cybersecurity</a:t>
            </a:r>
            <a:r>
              <a:rPr lang="en-US" sz="2400" spc="24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 risks</a:t>
            </a:r>
          </a:p>
          <a:p>
            <a:pPr marL="518196" lvl="1" indent="-259098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24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Coordinate incident response</a:t>
            </a:r>
          </a:p>
          <a:p>
            <a:pPr marL="518196" lvl="1" indent="-259098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24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Monitor security performance</a:t>
            </a:r>
          </a:p>
          <a:p>
            <a:pPr marL="518196" lvl="1" indent="-259098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24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Report major security issues to management</a:t>
            </a:r>
          </a:p>
        </p:txBody>
      </p:sp>
    </p:spTree>
    <p:extLst>
      <p:ext uri="{BB962C8B-B14F-4D97-AF65-F5344CB8AC3E}">
        <p14:creationId xmlns:p14="http://schemas.microsoft.com/office/powerpoint/2010/main" val="3795121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23089" y="3185339"/>
            <a:ext cx="3688132" cy="3674721"/>
          </a:xfrm>
          <a:custGeom>
            <a:avLst/>
            <a:gdLst/>
            <a:ahLst/>
            <a:cxnLst/>
            <a:rect l="l" t="t" r="r" b="b"/>
            <a:pathLst>
              <a:path w="5532198" h="5512081">
                <a:moveTo>
                  <a:pt x="0" y="0"/>
                </a:moveTo>
                <a:lnTo>
                  <a:pt x="5532199" y="0"/>
                </a:lnTo>
                <a:lnTo>
                  <a:pt x="5532199" y="5512081"/>
                </a:lnTo>
                <a:lnTo>
                  <a:pt x="0" y="55120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5848405" flipH="1" flipV="1">
            <a:off x="129298" y="-208083"/>
            <a:ext cx="3040943" cy="3413304"/>
          </a:xfrm>
          <a:custGeom>
            <a:avLst/>
            <a:gdLst/>
            <a:ahLst/>
            <a:cxnLst/>
            <a:rect l="l" t="t" r="r" b="b"/>
            <a:pathLst>
              <a:path w="4561415" h="5119956">
                <a:moveTo>
                  <a:pt x="4561415" y="5119955"/>
                </a:moveTo>
                <a:lnTo>
                  <a:pt x="0" y="5119955"/>
                </a:lnTo>
                <a:lnTo>
                  <a:pt x="0" y="0"/>
                </a:lnTo>
                <a:lnTo>
                  <a:pt x="4561415" y="0"/>
                </a:lnTo>
                <a:lnTo>
                  <a:pt x="4561415" y="511995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69413" y="1854201"/>
            <a:ext cx="7975600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34"/>
              </a:lnSpc>
              <a:spcBef>
                <a:spcPct val="0"/>
              </a:spcBef>
            </a:pPr>
            <a:r>
              <a:rPr lang="en-US" sz="4134" b="1" spc="41" dirty="0">
                <a:solidFill>
                  <a:srgbClr val="6439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Information Security Team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2159" y="2546669"/>
            <a:ext cx="9534624" cy="3206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61"/>
              </a:lnSpc>
              <a:spcBef>
                <a:spcPct val="0"/>
              </a:spcBef>
            </a:pPr>
            <a:r>
              <a:rPr lang="en-US" sz="2461" spc="24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The security team implements and monitors security controls.</a:t>
            </a:r>
          </a:p>
          <a:p>
            <a:pPr>
              <a:lnSpc>
                <a:spcPts val="2461"/>
              </a:lnSpc>
              <a:spcBef>
                <a:spcPct val="0"/>
              </a:spcBef>
            </a:pPr>
            <a:endParaRPr lang="en-US" sz="2461" spc="24">
              <a:solidFill>
                <a:srgbClr val="64392D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>
              <a:lnSpc>
                <a:spcPts val="2461"/>
              </a:lnSpc>
              <a:spcBef>
                <a:spcPct val="0"/>
              </a:spcBef>
            </a:pPr>
            <a:r>
              <a:rPr lang="en-US" sz="2461" spc="24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Possible roles include:</a:t>
            </a:r>
          </a:p>
          <a:p>
            <a:pPr>
              <a:lnSpc>
                <a:spcPts val="2461"/>
              </a:lnSpc>
              <a:spcBef>
                <a:spcPct val="0"/>
              </a:spcBef>
            </a:pPr>
            <a:endParaRPr lang="en-US" sz="2461" spc="24">
              <a:solidFill>
                <a:srgbClr val="64392D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>
              <a:lnSpc>
                <a:spcPts val="2461"/>
              </a:lnSpc>
              <a:spcBef>
                <a:spcPct val="0"/>
              </a:spcBef>
            </a:pPr>
            <a:r>
              <a:rPr lang="en-US" sz="2461" spc="24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Security Analyst</a:t>
            </a:r>
          </a:p>
          <a:p>
            <a:pPr>
              <a:lnSpc>
                <a:spcPts val="2461"/>
              </a:lnSpc>
              <a:spcBef>
                <a:spcPct val="0"/>
              </a:spcBef>
            </a:pPr>
            <a:r>
              <a:rPr lang="en-US" sz="2461" spc="24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Security Engineer</a:t>
            </a:r>
          </a:p>
          <a:p>
            <a:pPr>
              <a:lnSpc>
                <a:spcPts val="2461"/>
              </a:lnSpc>
              <a:spcBef>
                <a:spcPct val="0"/>
              </a:spcBef>
            </a:pPr>
            <a:r>
              <a:rPr lang="en-US" sz="2461" spc="24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Security Administrator</a:t>
            </a:r>
          </a:p>
          <a:p>
            <a:pPr>
              <a:lnSpc>
                <a:spcPts val="2461"/>
              </a:lnSpc>
              <a:spcBef>
                <a:spcPct val="0"/>
              </a:spcBef>
            </a:pPr>
            <a:r>
              <a:rPr lang="en-US" sz="2461" spc="24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Incident Response Specialist</a:t>
            </a:r>
          </a:p>
          <a:p>
            <a:pPr>
              <a:lnSpc>
                <a:spcPts val="2461"/>
              </a:lnSpc>
              <a:spcBef>
                <a:spcPct val="0"/>
              </a:spcBef>
            </a:pPr>
            <a:r>
              <a:rPr lang="en-US" sz="2461" spc="24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Security Operations Center (SOC) personnel</a:t>
            </a:r>
          </a:p>
          <a:p>
            <a:pPr>
              <a:lnSpc>
                <a:spcPts val="2461"/>
              </a:lnSpc>
              <a:spcBef>
                <a:spcPct val="0"/>
              </a:spcBef>
            </a:pPr>
            <a:r>
              <a:rPr lang="en-US" sz="2461" spc="24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Digital Forensics Specialist</a:t>
            </a:r>
          </a:p>
        </p:txBody>
      </p:sp>
    </p:spTree>
    <p:extLst>
      <p:ext uri="{BB962C8B-B14F-4D97-AF65-F5344CB8AC3E}">
        <p14:creationId xmlns:p14="http://schemas.microsoft.com/office/powerpoint/2010/main" val="1786092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01200" y="3937000"/>
            <a:ext cx="2634593" cy="2921000"/>
          </a:xfrm>
          <a:custGeom>
            <a:avLst/>
            <a:gdLst/>
            <a:ahLst/>
            <a:cxnLst/>
            <a:rect l="l" t="t" r="r" b="b"/>
            <a:pathLst>
              <a:path w="5532198" h="5512081">
                <a:moveTo>
                  <a:pt x="0" y="0"/>
                </a:moveTo>
                <a:lnTo>
                  <a:pt x="5532199" y="0"/>
                </a:lnTo>
                <a:lnTo>
                  <a:pt x="5532199" y="5512081"/>
                </a:lnTo>
                <a:lnTo>
                  <a:pt x="0" y="55120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6865" y="-11670"/>
            <a:ext cx="2533135" cy="2520343"/>
          </a:xfrm>
          <a:custGeom>
            <a:avLst/>
            <a:gdLst/>
            <a:ahLst/>
            <a:cxnLst/>
            <a:rect l="l" t="t" r="r" b="b"/>
            <a:pathLst>
              <a:path w="4561415" h="5119956">
                <a:moveTo>
                  <a:pt x="4561415" y="5119955"/>
                </a:moveTo>
                <a:lnTo>
                  <a:pt x="0" y="5119955"/>
                </a:lnTo>
                <a:lnTo>
                  <a:pt x="0" y="0"/>
                </a:lnTo>
                <a:lnTo>
                  <a:pt x="4561415" y="0"/>
                </a:lnTo>
                <a:lnTo>
                  <a:pt x="4561415" y="511995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668123" y="685800"/>
            <a:ext cx="5838077" cy="3534691"/>
          </a:xfrm>
          <a:custGeom>
            <a:avLst/>
            <a:gdLst/>
            <a:ahLst/>
            <a:cxnLst/>
            <a:rect l="l" t="t" r="r" b="b"/>
            <a:pathLst>
              <a:path w="8757116" h="5302036">
                <a:moveTo>
                  <a:pt x="0" y="0"/>
                </a:moveTo>
                <a:lnTo>
                  <a:pt x="8757116" y="0"/>
                </a:lnTo>
                <a:lnTo>
                  <a:pt x="8757116" y="5302036"/>
                </a:lnTo>
                <a:lnTo>
                  <a:pt x="0" y="53020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04800" y="2508674"/>
            <a:ext cx="5649069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34"/>
              </a:lnSpc>
            </a:pPr>
            <a:r>
              <a:rPr lang="en-US" sz="4134" b="1" spc="41" dirty="0">
                <a:solidFill>
                  <a:srgbClr val="6439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Operations Team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8000" y="3058161"/>
            <a:ext cx="4911539" cy="3834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40"/>
              </a:lnSpc>
            </a:pPr>
            <a:r>
              <a:rPr lang="en-US" spc="18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The IT team manages the technology infrastructure that needs to be protected.</a:t>
            </a:r>
          </a:p>
          <a:p>
            <a:pPr>
              <a:lnSpc>
                <a:spcPts val="2340"/>
              </a:lnSpc>
            </a:pPr>
            <a:endParaRPr lang="en-US" spc="18" dirty="0">
              <a:solidFill>
                <a:srgbClr val="64392D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>
              <a:lnSpc>
                <a:spcPts val="2340"/>
              </a:lnSpc>
            </a:pPr>
            <a:r>
              <a:rPr lang="en-US" spc="18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Responsibilities may include:</a:t>
            </a:r>
          </a:p>
          <a:p>
            <a:pPr marL="388639" lvl="1" indent="-194320">
              <a:lnSpc>
                <a:spcPts val="2340"/>
              </a:lnSpc>
              <a:buFont typeface="Arial"/>
              <a:buChar char="•"/>
            </a:pPr>
            <a:r>
              <a:rPr lang="en-US" spc="18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Servers</a:t>
            </a:r>
          </a:p>
          <a:p>
            <a:pPr marL="388639" lvl="1" indent="-194320">
              <a:lnSpc>
                <a:spcPts val="2340"/>
              </a:lnSpc>
              <a:buFont typeface="Arial"/>
              <a:buChar char="•"/>
            </a:pPr>
            <a:r>
              <a:rPr lang="en-US" spc="18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Networks</a:t>
            </a:r>
          </a:p>
          <a:p>
            <a:pPr marL="388639" lvl="1" indent="-194320">
              <a:lnSpc>
                <a:spcPts val="2340"/>
              </a:lnSpc>
              <a:buFont typeface="Arial"/>
              <a:buChar char="•"/>
            </a:pPr>
            <a:r>
              <a:rPr lang="en-US" spc="18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Databases</a:t>
            </a:r>
          </a:p>
          <a:p>
            <a:pPr marL="388639" lvl="1" indent="-194320">
              <a:lnSpc>
                <a:spcPts val="2340"/>
              </a:lnSpc>
              <a:buFont typeface="Arial"/>
              <a:buChar char="•"/>
            </a:pPr>
            <a:r>
              <a:rPr lang="en-US" spc="18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Applications</a:t>
            </a:r>
          </a:p>
          <a:p>
            <a:pPr marL="388639" lvl="1" indent="-194320">
              <a:lnSpc>
                <a:spcPts val="2340"/>
              </a:lnSpc>
              <a:buFont typeface="Arial"/>
              <a:buChar char="•"/>
            </a:pPr>
            <a:r>
              <a:rPr lang="en-US" spc="18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Endpoints</a:t>
            </a:r>
          </a:p>
          <a:p>
            <a:pPr marL="388639" lvl="1" indent="-194320">
              <a:lnSpc>
                <a:spcPts val="2340"/>
              </a:lnSpc>
              <a:buFont typeface="Arial"/>
              <a:buChar char="•"/>
            </a:pPr>
            <a:r>
              <a:rPr lang="en-US" spc="18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Backups</a:t>
            </a:r>
          </a:p>
          <a:p>
            <a:pPr marL="388639" lvl="1" indent="-194320">
              <a:lnSpc>
                <a:spcPts val="2340"/>
              </a:lnSpc>
              <a:buFont typeface="Arial"/>
              <a:buChar char="•"/>
            </a:pPr>
            <a:r>
              <a:rPr lang="en-US" spc="18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System updates and patches</a:t>
            </a:r>
          </a:p>
          <a:p>
            <a:pPr marL="388639" lvl="1" indent="-194320">
              <a:lnSpc>
                <a:spcPts val="2340"/>
              </a:lnSpc>
              <a:buFont typeface="Arial"/>
              <a:buChar char="•"/>
            </a:pPr>
            <a:r>
              <a:rPr lang="en-US" spc="18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User accounts</a:t>
            </a:r>
          </a:p>
          <a:p>
            <a:pPr>
              <a:lnSpc>
                <a:spcPts val="2340"/>
              </a:lnSpc>
            </a:pPr>
            <a:endParaRPr lang="en-US" spc="18" dirty="0">
              <a:solidFill>
                <a:srgbClr val="64392D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3249302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05241" y="3183280"/>
            <a:ext cx="3688132" cy="3674721"/>
          </a:xfrm>
          <a:custGeom>
            <a:avLst/>
            <a:gdLst/>
            <a:ahLst/>
            <a:cxnLst/>
            <a:rect l="l" t="t" r="r" b="b"/>
            <a:pathLst>
              <a:path w="5532198" h="5512081">
                <a:moveTo>
                  <a:pt x="0" y="0"/>
                </a:moveTo>
                <a:lnTo>
                  <a:pt x="5532199" y="0"/>
                </a:lnTo>
                <a:lnTo>
                  <a:pt x="5532199" y="5512081"/>
                </a:lnTo>
                <a:lnTo>
                  <a:pt x="0" y="55120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200000" flipH="1" flipV="1">
            <a:off x="250276" y="-283075"/>
            <a:ext cx="1935318" cy="2501468"/>
          </a:xfrm>
          <a:custGeom>
            <a:avLst/>
            <a:gdLst/>
            <a:ahLst/>
            <a:cxnLst/>
            <a:rect l="l" t="t" r="r" b="b"/>
            <a:pathLst>
              <a:path w="4561415" h="5119956">
                <a:moveTo>
                  <a:pt x="4561415" y="5119956"/>
                </a:moveTo>
                <a:lnTo>
                  <a:pt x="0" y="5119956"/>
                </a:lnTo>
                <a:lnTo>
                  <a:pt x="0" y="0"/>
                </a:lnTo>
                <a:lnTo>
                  <a:pt x="4561415" y="0"/>
                </a:lnTo>
                <a:lnTo>
                  <a:pt x="4561415" y="511995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175024" y="685800"/>
            <a:ext cx="5331177" cy="4701129"/>
          </a:xfrm>
          <a:custGeom>
            <a:avLst/>
            <a:gdLst/>
            <a:ahLst/>
            <a:cxnLst/>
            <a:rect l="l" t="t" r="r" b="b"/>
            <a:pathLst>
              <a:path w="7996765" h="7051693">
                <a:moveTo>
                  <a:pt x="0" y="0"/>
                </a:moveTo>
                <a:lnTo>
                  <a:pt x="7996765" y="0"/>
                </a:lnTo>
                <a:lnTo>
                  <a:pt x="7996765" y="7051693"/>
                </a:lnTo>
                <a:lnTo>
                  <a:pt x="0" y="70516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69235" y="2235149"/>
            <a:ext cx="4911539" cy="3847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13"/>
              </a:lnSpc>
            </a:pPr>
            <a:r>
              <a:rPr lang="en-US" sz="1933" spc="19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This team helps ensure that the organization identifies and manages security risks and complies with applicable requirements.</a:t>
            </a:r>
          </a:p>
          <a:p>
            <a:pPr>
              <a:lnSpc>
                <a:spcPts val="2513"/>
              </a:lnSpc>
            </a:pPr>
            <a:r>
              <a:rPr lang="en-US" sz="1933" spc="19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Responsibilities:</a:t>
            </a:r>
          </a:p>
          <a:p>
            <a:pPr marL="417427" lvl="1" indent="-208713">
              <a:lnSpc>
                <a:spcPts val="2513"/>
              </a:lnSpc>
              <a:buFont typeface="Arial"/>
              <a:buChar char="•"/>
            </a:pPr>
            <a:r>
              <a:rPr lang="en-US" sz="1933" spc="19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Risk assessments</a:t>
            </a:r>
          </a:p>
          <a:p>
            <a:pPr marL="417427" lvl="1" indent="-208713">
              <a:lnSpc>
                <a:spcPts val="2513"/>
              </a:lnSpc>
              <a:buFont typeface="Arial"/>
              <a:buChar char="•"/>
            </a:pPr>
            <a:r>
              <a:rPr lang="en-US" sz="1933" spc="19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Security audits</a:t>
            </a:r>
          </a:p>
          <a:p>
            <a:pPr marL="417427" lvl="1" indent="-208713">
              <a:lnSpc>
                <a:spcPts val="2513"/>
              </a:lnSpc>
              <a:buFont typeface="Arial"/>
              <a:buChar char="•"/>
            </a:pPr>
            <a:r>
              <a:rPr lang="en-US" sz="1933" spc="19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Compliance monitoring</a:t>
            </a:r>
          </a:p>
          <a:p>
            <a:pPr marL="417427" lvl="1" indent="-208713">
              <a:lnSpc>
                <a:spcPts val="2513"/>
              </a:lnSpc>
              <a:buFont typeface="Arial"/>
              <a:buChar char="•"/>
            </a:pPr>
            <a:r>
              <a:rPr lang="en-US" sz="1933" spc="19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Policy review</a:t>
            </a:r>
          </a:p>
          <a:p>
            <a:pPr marL="417427" lvl="1" indent="-208713">
              <a:lnSpc>
                <a:spcPts val="2513"/>
              </a:lnSpc>
              <a:buFont typeface="Arial"/>
              <a:buChar char="•"/>
            </a:pPr>
            <a:r>
              <a:rPr lang="en-US" sz="1933" spc="19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Risk reporting</a:t>
            </a:r>
          </a:p>
          <a:p>
            <a:pPr marL="417427" lvl="1" indent="-208713">
              <a:lnSpc>
                <a:spcPts val="2513"/>
              </a:lnSpc>
              <a:buFont typeface="Arial"/>
              <a:buChar char="•"/>
            </a:pPr>
            <a:r>
              <a:rPr lang="en-US" sz="1933" spc="19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Control assessment</a:t>
            </a:r>
          </a:p>
          <a:p>
            <a:pPr>
              <a:lnSpc>
                <a:spcPts val="2513"/>
              </a:lnSpc>
            </a:pPr>
            <a:endParaRPr lang="en-US" sz="1933" spc="19" dirty="0">
              <a:solidFill>
                <a:srgbClr val="64392D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-59741" y="1705090"/>
            <a:ext cx="623476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sz="3199" b="1" spc="31" dirty="0">
                <a:solidFill>
                  <a:srgbClr val="6439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Risk and Compliance Team</a:t>
            </a:r>
          </a:p>
        </p:txBody>
      </p:sp>
    </p:spTree>
    <p:extLst>
      <p:ext uri="{BB962C8B-B14F-4D97-AF65-F5344CB8AC3E}">
        <p14:creationId xmlns:p14="http://schemas.microsoft.com/office/powerpoint/2010/main" val="1186229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85200" y="3133762"/>
            <a:ext cx="3688132" cy="3674721"/>
          </a:xfrm>
          <a:custGeom>
            <a:avLst/>
            <a:gdLst/>
            <a:ahLst/>
            <a:cxnLst/>
            <a:rect l="l" t="t" r="r" b="b"/>
            <a:pathLst>
              <a:path w="5532198" h="5512081">
                <a:moveTo>
                  <a:pt x="0" y="0"/>
                </a:moveTo>
                <a:lnTo>
                  <a:pt x="5532199" y="0"/>
                </a:lnTo>
                <a:lnTo>
                  <a:pt x="5532199" y="5512081"/>
                </a:lnTo>
                <a:lnTo>
                  <a:pt x="0" y="55120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200000" flipH="1" flipV="1">
            <a:off x="236981" y="-207947"/>
            <a:ext cx="3040943" cy="3413304"/>
          </a:xfrm>
          <a:custGeom>
            <a:avLst/>
            <a:gdLst/>
            <a:ahLst/>
            <a:cxnLst/>
            <a:rect l="l" t="t" r="r" b="b"/>
            <a:pathLst>
              <a:path w="4561415" h="5119956">
                <a:moveTo>
                  <a:pt x="4561415" y="5119956"/>
                </a:moveTo>
                <a:lnTo>
                  <a:pt x="0" y="5119956"/>
                </a:lnTo>
                <a:lnTo>
                  <a:pt x="0" y="0"/>
                </a:lnTo>
                <a:lnTo>
                  <a:pt x="4561415" y="0"/>
                </a:lnTo>
                <a:lnTo>
                  <a:pt x="4561415" y="511995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71726" y="3142686"/>
            <a:ext cx="4911539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66"/>
              </a:lnSpc>
            </a:pPr>
            <a:r>
              <a:rPr lang="en-US" sz="4266" b="1" spc="42" dirty="0">
                <a:solidFill>
                  <a:srgbClr val="6439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Owners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31009" y="3822843"/>
            <a:ext cx="4768448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71"/>
              </a:lnSpc>
            </a:pPr>
            <a:r>
              <a:rPr lang="en-US" sz="1747" spc="17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A data owner is responsible for determining how particular information should be protected.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51509" y="4988463"/>
            <a:ext cx="4946091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22"/>
              </a:lnSpc>
              <a:spcBef>
                <a:spcPct val="0"/>
              </a:spcBef>
            </a:pPr>
            <a:r>
              <a:rPr lang="en-US" sz="1632" spc="16" dirty="0">
                <a:solidFill>
                  <a:srgbClr val="64392D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Data owners determine:</a:t>
            </a:r>
          </a:p>
          <a:p>
            <a:pPr>
              <a:lnSpc>
                <a:spcPts val="2122"/>
              </a:lnSpc>
              <a:spcBef>
                <a:spcPct val="0"/>
              </a:spcBef>
            </a:pPr>
            <a:endParaRPr lang="en-US" sz="1632" spc="16" dirty="0">
              <a:solidFill>
                <a:srgbClr val="64392D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  <a:p>
            <a:pPr>
              <a:lnSpc>
                <a:spcPts val="2122"/>
              </a:lnSpc>
              <a:spcBef>
                <a:spcPct val="0"/>
              </a:spcBef>
            </a:pPr>
            <a:r>
              <a:rPr lang="en-US" sz="1632" spc="16" dirty="0">
                <a:solidFill>
                  <a:srgbClr val="64392D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Who </a:t>
            </a:r>
            <a:r>
              <a:rPr lang="en-US" sz="1632" spc="16" dirty="0">
                <a:solidFill>
                  <a:srgbClr val="64392D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should access the data</a:t>
            </a:r>
          </a:p>
          <a:p>
            <a:pPr>
              <a:lnSpc>
                <a:spcPts val="2122"/>
              </a:lnSpc>
              <a:spcBef>
                <a:spcPct val="0"/>
              </a:spcBef>
            </a:pPr>
            <a:r>
              <a:rPr lang="en-US" sz="1632" spc="16" dirty="0">
                <a:solidFill>
                  <a:srgbClr val="64392D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How sensitive the data is</a:t>
            </a:r>
          </a:p>
          <a:p>
            <a:pPr>
              <a:lnSpc>
                <a:spcPts val="2122"/>
              </a:lnSpc>
              <a:spcBef>
                <a:spcPct val="0"/>
              </a:spcBef>
            </a:pPr>
            <a:r>
              <a:rPr lang="en-US" sz="1632" spc="16" dirty="0">
                <a:solidFill>
                  <a:srgbClr val="64392D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How long it should be retained</a:t>
            </a:r>
          </a:p>
          <a:p>
            <a:pPr>
              <a:lnSpc>
                <a:spcPts val="2122"/>
              </a:lnSpc>
              <a:spcBef>
                <a:spcPct val="0"/>
              </a:spcBef>
            </a:pPr>
            <a:r>
              <a:rPr lang="en-US" sz="1632" spc="16" dirty="0">
                <a:solidFill>
                  <a:srgbClr val="64392D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What protections are required</a:t>
            </a:r>
          </a:p>
        </p:txBody>
      </p:sp>
    </p:spTree>
    <p:extLst>
      <p:ext uri="{BB962C8B-B14F-4D97-AF65-F5344CB8AC3E}">
        <p14:creationId xmlns:p14="http://schemas.microsoft.com/office/powerpoint/2010/main" val="2484455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01600" y="-76200"/>
            <a:ext cx="3040943" cy="3413304"/>
          </a:xfrm>
          <a:custGeom>
            <a:avLst/>
            <a:gdLst/>
            <a:ahLst/>
            <a:cxnLst/>
            <a:rect l="l" t="t" r="r" b="b"/>
            <a:pathLst>
              <a:path w="4561415" h="5119956">
                <a:moveTo>
                  <a:pt x="4561415" y="5119956"/>
                </a:moveTo>
                <a:lnTo>
                  <a:pt x="0" y="5119956"/>
                </a:lnTo>
                <a:lnTo>
                  <a:pt x="0" y="0"/>
                </a:lnTo>
                <a:lnTo>
                  <a:pt x="4561415" y="0"/>
                </a:lnTo>
                <a:lnTo>
                  <a:pt x="4561415" y="511995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506614" y="3178474"/>
            <a:ext cx="3688132" cy="3674721"/>
          </a:xfrm>
          <a:custGeom>
            <a:avLst/>
            <a:gdLst/>
            <a:ahLst/>
            <a:cxnLst/>
            <a:rect l="l" t="t" r="r" b="b"/>
            <a:pathLst>
              <a:path w="5532198" h="5512081">
                <a:moveTo>
                  <a:pt x="0" y="0"/>
                </a:moveTo>
                <a:lnTo>
                  <a:pt x="5532199" y="0"/>
                </a:lnTo>
                <a:lnTo>
                  <a:pt x="5532199" y="5512081"/>
                </a:lnTo>
                <a:lnTo>
                  <a:pt x="0" y="55120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590800" y="1803401"/>
            <a:ext cx="7115605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34"/>
              </a:lnSpc>
              <a:spcBef>
                <a:spcPct val="0"/>
              </a:spcBef>
            </a:pPr>
            <a:r>
              <a:rPr lang="en-US" sz="4134" b="1" spc="41" dirty="0">
                <a:solidFill>
                  <a:srgbClr val="6439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All Employees and Users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39344" y="2565400"/>
            <a:ext cx="7884517" cy="346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  <a:spcBef>
                <a:spcPct val="0"/>
              </a:spcBef>
            </a:pPr>
            <a:r>
              <a:rPr lang="en-US" sz="2133" spc="30" dirty="0">
                <a:solidFill>
                  <a:srgbClr val="64392D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>Security is everyone's responsibility.</a:t>
            </a:r>
          </a:p>
          <a:p>
            <a:pPr>
              <a:lnSpc>
                <a:spcPts val="3000"/>
              </a:lnSpc>
              <a:spcBef>
                <a:spcPct val="0"/>
              </a:spcBef>
            </a:pPr>
            <a:r>
              <a:rPr lang="en-US" sz="2133" spc="30" dirty="0">
                <a:solidFill>
                  <a:srgbClr val="64392D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>Employees and users should:</a:t>
            </a:r>
          </a:p>
          <a:p>
            <a:pPr>
              <a:lnSpc>
                <a:spcPts val="3000"/>
              </a:lnSpc>
              <a:spcBef>
                <a:spcPct val="0"/>
              </a:spcBef>
            </a:pPr>
            <a:endParaRPr lang="en-US" sz="2133" spc="30" dirty="0">
              <a:solidFill>
                <a:srgbClr val="64392D"/>
              </a:solidFill>
              <a:latin typeface="Arial" panose="020B0604020202020204" pitchFamily="34" charset="0"/>
              <a:ea typeface="Canva Sans Bold"/>
              <a:cs typeface="Arial" panose="020B0604020202020204" pitchFamily="34" charset="0"/>
              <a:sym typeface="Canva Sans Bold"/>
            </a:endParaRPr>
          </a:p>
          <a:p>
            <a:pPr marL="647739" lvl="1" indent="-323870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2133" spc="30" dirty="0">
                <a:solidFill>
                  <a:srgbClr val="64392D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>Follow security policies</a:t>
            </a:r>
          </a:p>
          <a:p>
            <a:pPr marL="647739" lvl="1" indent="-323870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2133" spc="30" dirty="0">
                <a:solidFill>
                  <a:srgbClr val="64392D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>Protect passwords</a:t>
            </a:r>
          </a:p>
          <a:p>
            <a:pPr marL="647739" lvl="1" indent="-323870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2133" spc="30" dirty="0">
                <a:solidFill>
                  <a:srgbClr val="64392D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>Report suspicious activity</a:t>
            </a:r>
          </a:p>
          <a:p>
            <a:pPr marL="647739" lvl="1" indent="-323870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2133" spc="30" dirty="0">
                <a:solidFill>
                  <a:srgbClr val="64392D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>Avoid unauthorized software</a:t>
            </a:r>
          </a:p>
          <a:p>
            <a:pPr marL="647739" lvl="1" indent="-323870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2133" spc="30" dirty="0">
                <a:solidFill>
                  <a:srgbClr val="64392D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>Handle sensitive information properly</a:t>
            </a:r>
          </a:p>
          <a:p>
            <a:pPr marL="647739" lvl="1" indent="-323870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2133" spc="30" dirty="0">
                <a:solidFill>
                  <a:srgbClr val="64392D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>Complete security awareness training</a:t>
            </a:r>
          </a:p>
        </p:txBody>
      </p:sp>
    </p:spTree>
    <p:extLst>
      <p:ext uri="{BB962C8B-B14F-4D97-AF65-F5344CB8AC3E}">
        <p14:creationId xmlns:p14="http://schemas.microsoft.com/office/powerpoint/2010/main" val="2227580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23089" y="3183280"/>
            <a:ext cx="3688132" cy="3674721"/>
          </a:xfrm>
          <a:custGeom>
            <a:avLst/>
            <a:gdLst/>
            <a:ahLst/>
            <a:cxnLst/>
            <a:rect l="l" t="t" r="r" b="b"/>
            <a:pathLst>
              <a:path w="5532198" h="5512081">
                <a:moveTo>
                  <a:pt x="0" y="0"/>
                </a:moveTo>
                <a:lnTo>
                  <a:pt x="5532199" y="0"/>
                </a:lnTo>
                <a:lnTo>
                  <a:pt x="5532199" y="5512081"/>
                </a:lnTo>
                <a:lnTo>
                  <a:pt x="0" y="5512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5818871" flipH="1" flipV="1">
            <a:off x="124196" y="-243167"/>
            <a:ext cx="3040943" cy="3413304"/>
          </a:xfrm>
          <a:custGeom>
            <a:avLst/>
            <a:gdLst/>
            <a:ahLst/>
            <a:cxnLst/>
            <a:rect l="l" t="t" r="r" b="b"/>
            <a:pathLst>
              <a:path w="4561415" h="5119956">
                <a:moveTo>
                  <a:pt x="4561415" y="5119955"/>
                </a:moveTo>
                <a:lnTo>
                  <a:pt x="0" y="5119955"/>
                </a:lnTo>
                <a:lnTo>
                  <a:pt x="0" y="0"/>
                </a:lnTo>
                <a:lnTo>
                  <a:pt x="4561415" y="0"/>
                </a:lnTo>
                <a:lnTo>
                  <a:pt x="4561415" y="511995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492696" y="685800"/>
            <a:ext cx="4013504" cy="4164957"/>
          </a:xfrm>
          <a:custGeom>
            <a:avLst/>
            <a:gdLst/>
            <a:ahLst/>
            <a:cxnLst/>
            <a:rect l="l" t="t" r="r" b="b"/>
            <a:pathLst>
              <a:path w="6020256" h="6247435">
                <a:moveTo>
                  <a:pt x="0" y="0"/>
                </a:moveTo>
                <a:lnTo>
                  <a:pt x="6020256" y="0"/>
                </a:lnTo>
                <a:lnTo>
                  <a:pt x="6020256" y="6247435"/>
                </a:lnTo>
                <a:lnTo>
                  <a:pt x="0" y="624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692400" y="2006600"/>
            <a:ext cx="6571848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67"/>
              </a:lnSpc>
            </a:pPr>
            <a:r>
              <a:rPr lang="en-US" sz="2400" spc="33" dirty="0">
                <a:solidFill>
                  <a:srgbClr val="6439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Three Important Principles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94000" y="2667000"/>
            <a:ext cx="4597096" cy="4154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6"/>
              </a:lnSpc>
            </a:pPr>
            <a:r>
              <a:rPr lang="en-US" sz="1600" spc="20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1. </a:t>
            </a:r>
            <a:r>
              <a:rPr lang="en-US" sz="1600" b="1" spc="20" dirty="0">
                <a:solidFill>
                  <a:srgbClr val="6439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Responsibility</a:t>
            </a:r>
          </a:p>
          <a:p>
            <a:pPr>
              <a:lnSpc>
                <a:spcPts val="2686"/>
              </a:lnSpc>
            </a:pPr>
            <a:r>
              <a:rPr lang="en-US" sz="1600" spc="20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Everyone should know what they are responsible for</a:t>
            </a:r>
            <a:r>
              <a:rPr lang="en-US" sz="1600" spc="20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  <a:endParaRPr lang="en-US" sz="1600" spc="20" dirty="0">
              <a:solidFill>
                <a:srgbClr val="64392D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>
              <a:lnSpc>
                <a:spcPts val="2686"/>
              </a:lnSpc>
            </a:pPr>
            <a:r>
              <a:rPr lang="en-US" sz="1600" spc="20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2. </a:t>
            </a:r>
            <a:r>
              <a:rPr lang="en-US" sz="1600" b="1" spc="20" dirty="0">
                <a:solidFill>
                  <a:srgbClr val="6439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Authority</a:t>
            </a:r>
          </a:p>
          <a:p>
            <a:pPr>
              <a:lnSpc>
                <a:spcPts val="2686"/>
              </a:lnSpc>
            </a:pPr>
            <a:r>
              <a:rPr lang="en-US" sz="1600" spc="20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People should have enough authority and resources to perform their security responsibilities</a:t>
            </a:r>
            <a:r>
              <a:rPr lang="en-US" sz="1600" spc="20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  <a:endParaRPr lang="en-US" sz="1600" spc="20" dirty="0">
              <a:solidFill>
                <a:srgbClr val="64392D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>
              <a:lnSpc>
                <a:spcPts val="2686"/>
              </a:lnSpc>
            </a:pPr>
            <a:r>
              <a:rPr lang="en-US" sz="1600" spc="20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3. </a:t>
            </a:r>
            <a:r>
              <a:rPr lang="en-US" sz="1600" b="1" spc="20" dirty="0">
                <a:solidFill>
                  <a:srgbClr val="6439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Accountability</a:t>
            </a:r>
          </a:p>
          <a:p>
            <a:pPr>
              <a:lnSpc>
                <a:spcPts val="2686"/>
              </a:lnSpc>
            </a:pPr>
            <a:r>
              <a:rPr lang="en-US" sz="1600" spc="20" dirty="0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Individuals should be held responsible for their actions involving organizational information and systems.</a:t>
            </a:r>
          </a:p>
          <a:p>
            <a:pPr>
              <a:lnSpc>
                <a:spcPts val="2686"/>
              </a:lnSpc>
            </a:pPr>
            <a:endParaRPr lang="en-US" sz="1600" spc="20" dirty="0">
              <a:solidFill>
                <a:srgbClr val="64392D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1785177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16225" y="3166118"/>
            <a:ext cx="3688132" cy="3674721"/>
          </a:xfrm>
          <a:custGeom>
            <a:avLst/>
            <a:gdLst/>
            <a:ahLst/>
            <a:cxnLst/>
            <a:rect l="l" t="t" r="r" b="b"/>
            <a:pathLst>
              <a:path w="5532198" h="5512081">
                <a:moveTo>
                  <a:pt x="0" y="0"/>
                </a:moveTo>
                <a:lnTo>
                  <a:pt x="5532199" y="0"/>
                </a:lnTo>
                <a:lnTo>
                  <a:pt x="5532199" y="5512081"/>
                </a:lnTo>
                <a:lnTo>
                  <a:pt x="0" y="5512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522085" flipH="1" flipV="1">
            <a:off x="251130" y="-183069"/>
            <a:ext cx="2026053" cy="2349070"/>
          </a:xfrm>
          <a:custGeom>
            <a:avLst/>
            <a:gdLst/>
            <a:ahLst/>
            <a:cxnLst/>
            <a:rect l="l" t="t" r="r" b="b"/>
            <a:pathLst>
              <a:path w="4561415" h="5119956">
                <a:moveTo>
                  <a:pt x="4561415" y="5119956"/>
                </a:moveTo>
                <a:lnTo>
                  <a:pt x="0" y="5119956"/>
                </a:lnTo>
                <a:lnTo>
                  <a:pt x="0" y="0"/>
                </a:lnTo>
                <a:lnTo>
                  <a:pt x="4561415" y="0"/>
                </a:lnTo>
                <a:lnTo>
                  <a:pt x="4561415" y="51199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490232" y="1483250"/>
            <a:ext cx="4284161" cy="3701017"/>
          </a:xfrm>
          <a:custGeom>
            <a:avLst/>
            <a:gdLst/>
            <a:ahLst/>
            <a:cxnLst/>
            <a:rect l="l" t="t" r="r" b="b"/>
            <a:pathLst>
              <a:path w="6426242" h="5551526">
                <a:moveTo>
                  <a:pt x="0" y="0"/>
                </a:moveTo>
                <a:lnTo>
                  <a:pt x="6426241" y="0"/>
                </a:lnTo>
                <a:lnTo>
                  <a:pt x="6426241" y="5551526"/>
                </a:lnTo>
                <a:lnTo>
                  <a:pt x="0" y="55515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83511" y="3144400"/>
            <a:ext cx="7093945" cy="2051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75"/>
              </a:lnSpc>
            </a:pPr>
            <a:r>
              <a:rPr lang="en-US" sz="3175" b="1" spc="31">
                <a:solidFill>
                  <a:srgbClr val="6439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Effective Information Assurance is </a:t>
            </a:r>
          </a:p>
          <a:p>
            <a:pPr>
              <a:lnSpc>
                <a:spcPts val="3175"/>
              </a:lnSpc>
            </a:pPr>
            <a:r>
              <a:rPr lang="en-US" sz="3175" b="1" spc="31">
                <a:solidFill>
                  <a:srgbClr val="6439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achieved when people, processes, </a:t>
            </a:r>
          </a:p>
          <a:p>
            <a:pPr>
              <a:lnSpc>
                <a:spcPts val="3175"/>
              </a:lnSpc>
            </a:pPr>
            <a:r>
              <a:rPr lang="en-US" sz="3175" b="1" spc="31">
                <a:solidFill>
                  <a:srgbClr val="6439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technology, and management work </a:t>
            </a:r>
          </a:p>
          <a:p>
            <a:pPr>
              <a:lnSpc>
                <a:spcPts val="3175"/>
              </a:lnSpc>
            </a:pPr>
            <a:r>
              <a:rPr lang="en-US" sz="3175" b="1" spc="31">
                <a:solidFill>
                  <a:srgbClr val="6439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together to protect organizational </a:t>
            </a:r>
          </a:p>
          <a:p>
            <a:pPr>
              <a:lnSpc>
                <a:spcPts val="3175"/>
              </a:lnSpc>
              <a:spcBef>
                <a:spcPct val="0"/>
              </a:spcBef>
            </a:pPr>
            <a:r>
              <a:rPr lang="en-US" sz="3175" b="1" spc="31">
                <a:solidFill>
                  <a:srgbClr val="6439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information.</a:t>
            </a:r>
          </a:p>
        </p:txBody>
      </p:sp>
    </p:spTree>
    <p:extLst>
      <p:ext uri="{BB962C8B-B14F-4D97-AF65-F5344CB8AC3E}">
        <p14:creationId xmlns:p14="http://schemas.microsoft.com/office/powerpoint/2010/main" val="31978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193219FC87DA42A1966AE68928D9AF" ma:contentTypeVersion="3" ma:contentTypeDescription="Create a new document." ma:contentTypeScope="" ma:versionID="8fce401c09380856e8cbca84f202d4ea">
  <xsd:schema xmlns:xsd="http://www.w3.org/2001/XMLSchema" xmlns:xs="http://www.w3.org/2001/XMLSchema" xmlns:p="http://schemas.microsoft.com/office/2006/metadata/properties" xmlns:ns2="143e7546-8083-4410-a5ff-408e55ea4aac" targetNamespace="http://schemas.microsoft.com/office/2006/metadata/properties" ma:root="true" ma:fieldsID="5ed7835315c6b525bb6f16b2ce7f1191" ns2:_="">
    <xsd:import namespace="143e7546-8083-4410-a5ff-408e55ea4a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3e7546-8083-4410-a5ff-408e55ea4a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4DD6D6C-FD78-492B-876F-54CF669DBBCC}"/>
</file>

<file path=customXml/itemProps2.xml><?xml version="1.0" encoding="utf-8"?>
<ds:datastoreItem xmlns:ds="http://schemas.openxmlformats.org/officeDocument/2006/customXml" ds:itemID="{96FC9806-73CF-4BA2-B167-3B5BB325DD17}"/>
</file>

<file path=customXml/itemProps3.xml><?xml version="1.0" encoding="utf-8"?>
<ds:datastoreItem xmlns:ds="http://schemas.openxmlformats.org/officeDocument/2006/customXml" ds:itemID="{58329AA7-669E-4281-B303-865332FCEF6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</Words>
  <Application>Microsoft Office PowerPoint</Application>
  <PresentationFormat>Widescreen</PresentationFormat>
  <Paragraphs>104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Canva Sans</vt:lpstr>
      <vt:lpstr>Canva Sans Bold</vt:lpstr>
      <vt:lpstr>Canva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Harlynn</dc:creator>
  <cp:lastModifiedBy>Harlynn</cp:lastModifiedBy>
  <cp:revision>1</cp:revision>
  <dcterms:created xsi:type="dcterms:W3CDTF">2026-09-10T00:41:34Z</dcterms:created>
  <dcterms:modified xsi:type="dcterms:W3CDTF">2026-09-10T00:42:26Z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0x010100C7193219FC87DA42A1966AE68928D9AF</vt:lpwstr>
  </property>
</Properties>
</file>